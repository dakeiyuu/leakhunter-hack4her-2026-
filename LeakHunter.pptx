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2" r:id="rId5"/>
    <p:sldId id="264" r:id="rId6"/>
    <p:sldId id="263" r:id="rId7"/>
    <p:sldId id="266" r:id="rId8"/>
    <p:sldId id="265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32D6"/>
    <a:srgbClr val="DA4246"/>
    <a:srgbClr val="E97132"/>
    <a:srgbClr val="A68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1F6DD-DB46-5514-BF8F-F4FE7B40A4B9}" v="193" dt="2026-06-07T13:55:17.871"/>
    <p1510:client id="{39E8759D-B6F3-919C-8003-F89A22C81B3A}" v="56" dt="2026-06-07T15:53:30.803"/>
    <p1510:client id="{B9EC9476-0A0E-88F7-79E7-86999714782E}" v="267" dt="2026-06-07T15:21:12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D9270-749F-4E73-951A-773049BEED02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798CE-8CE5-41FF-BCDB-9020D3BEA98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5173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798CE-8CE5-41FF-BCDB-9020D3BEA981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0260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80E43-451A-8359-258C-B56A4F02D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CB240-6D03-8232-D073-8833153A8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95421-5849-8F13-05DB-D684E492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55317E-07EC-F501-9085-71538393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736DC6-0171-DDB4-14E7-7F715C5A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457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2D143-2FC4-C324-6AC2-FCD65E67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F1599E-F0C1-6713-9914-0C1A651B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8C1BA1-6F29-6D2A-ED19-DD661ABB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8F0E36-6C44-D333-5D79-625CAD60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8C689-524F-A3EE-4094-DB6F0D83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908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D1B75-7FFC-DA7F-78D3-FDA7EDBC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9DED43-9477-6063-F4F0-E07CE6AC5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EBCCC4-0353-8DEF-1425-AAC6BAC1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930D05-837C-C025-A44A-0A014F8A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5B3E0A-B482-EFEC-0DDB-AECAC714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032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1179A-CF65-560A-0A7B-D3BF1391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4A5DB2-926C-AB79-F821-6BF8809F7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9E2C2B-2ED7-B812-954A-3FE1DB4D0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F71319-A99E-3E50-42EA-7605B2FF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BC3C51-F974-101C-09A5-681269B3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F857BD-E1C5-D364-03DC-012C6F3A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98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D918F-82C7-989E-FEBF-95BF3CB2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5972AE-5F33-2C27-041A-49C3ECD3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09122C-8D95-F424-F632-415664F5A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112025-E1F8-1AE1-2779-FB4384A15F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0790F5-429D-BDBC-794A-191F56881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082079-DB82-2EC1-32A9-4D391A993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3C1391D-FAF3-8EF8-5218-3199BA24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597416-C7AA-751C-C29D-07CCB8A6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224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A6384-BC7C-93EB-EA1C-328B6F69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8AF327-552A-5D4C-A7B0-22307C14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6E7E13C-3E65-4493-666E-5471AED5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214F38-C8DE-CFCA-8238-9EE99BCB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191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DE8A46-7D14-6D7A-DA0C-AD8FAD73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82667B-0E1A-B6C0-7C35-D3789E53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F75655-B353-DA6F-56DF-33721FCC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033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14B45-4384-3191-AEF1-2A183A35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276324-2F9A-9B7F-7936-C2E282BED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5E6FF5-9172-DA08-BE05-B03B8F1D6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E7E988-3467-2FB6-BC83-D26707BB1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F45BB4-C817-C3D6-D469-AE656012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08C241-8AFE-6F22-3B93-BC6357E9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154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D104D-E337-57F6-10B1-EBC9E42E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958F79-53F5-1061-4773-8EB7CE7D2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F3307E-1A66-6950-EC0B-993F2C2A6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2E838E-D4CD-801C-EA99-067276CF7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8924EB-F0B2-2DA3-DDB2-2F3849B5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A7CB14-7E56-9B55-3896-392B6C95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593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01F51-6D47-B387-B448-C3E02A5D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21181A-C0C9-E7D9-BD5C-D53C0E1A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E8CB3C-8BE1-E833-5A8D-5CEF5A41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23B901-E854-9187-D28E-B7486770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1F1960-8B2B-DB1D-5B7F-77D3F356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106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592CE5-DBDD-6761-BC3C-D5D7BF6AA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FA5A8E-BE96-D280-3DFF-DB912ED68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1A8625-F03B-177C-2BF0-A6280D84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BE214F-F067-26A6-887F-FC3A95F0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99E47-2338-96D4-2470-EEE2CFB9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919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77ED24-A4C0-4A7F-565C-36C55C9C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FCA6C2-B433-C3EB-29D8-43032AA50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61FE3A-0FDE-AEAC-698E-2CFE2E3DC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13BF1-B268-4A75-A699-21C12E8239A6}" type="datetimeFigureOut">
              <a:rPr lang="es-MX" smtClean="0"/>
              <a:t>07/06/2026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A9E301-E534-B7C0-D1F4-FB158696F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D97DAB-2EA1-EE76-672C-C18500D86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14886-4409-48A7-AFF0-9D96D442713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82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4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1369B674-12FA-AF7F-0393-368FBEF168DB}"/>
              </a:ext>
            </a:extLst>
          </p:cNvPr>
          <p:cNvSpPr/>
          <p:nvPr/>
        </p:nvSpPr>
        <p:spPr>
          <a:xfrm>
            <a:off x="-9314068" y="0"/>
            <a:ext cx="93111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18BD084-EF2C-BE6D-443E-3F7F8A61C4C6}"/>
              </a:ext>
            </a:extLst>
          </p:cNvPr>
          <p:cNvGrpSpPr/>
          <p:nvPr/>
        </p:nvGrpSpPr>
        <p:grpSpPr>
          <a:xfrm>
            <a:off x="-3657600" y="2446084"/>
            <a:ext cx="3612080" cy="2539268"/>
            <a:chOff x="88490" y="2298602"/>
            <a:chExt cx="3612080" cy="253926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31AD077C-2F64-AD43-799D-9B5C40BE8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91"/>
            <a:stretch>
              <a:fillRect/>
            </a:stretch>
          </p:blipFill>
          <p:spPr>
            <a:xfrm>
              <a:off x="88490" y="2298602"/>
              <a:ext cx="3612080" cy="2539268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F0821DCB-62CE-8772-D5DC-11988F219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494" t="13848" r="19775" b="24129"/>
            <a:stretch>
              <a:fillRect/>
            </a:stretch>
          </p:blipFill>
          <p:spPr>
            <a:xfrm>
              <a:off x="692249" y="2711861"/>
              <a:ext cx="998900" cy="1111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293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0"/>
    </mc:Choice>
    <mc:Fallback xmlns="">
      <p:transition advTm="200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accel="5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3.33333E-6 L 0.96927 0.00717 " pathEditMode="relative" rAng="0" ptsTypes="AA" p14:bounceEnd="42000">
                                          <p:cBhvr>
                                            <p:cTn id="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8464" y="34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63" presetClass="path" presetSubtype="0" accel="50000" fill="hold" grpId="0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27669 0 L 0.72825 0 " pathEditMode="relative" rAng="0" ptsTypes="AA" p14:bounceEnd="42000">
                                          <p:cBhvr>
                                            <p:cTn id="8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02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3.33333E-6 L 0.96927 0.00717 " pathEditMode="relative" rAng="0" ptsTypes="AA">
                                          <p:cBhvr>
                                            <p:cTn id="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8464" y="34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63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27669 0 L 0.72825 0 " pathEditMode="relative" rAng="0" ptsTypes="AA">
                                          <p:cBhvr>
                                            <p:cTn id="8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02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3D6E98E-080E-029A-A2DD-802C99FA0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C2A21E8-DC2C-F613-AD29-9B2EB088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48" t="8271" r="2303" b="4726"/>
          <a:stretch>
            <a:fillRect/>
          </a:stretch>
        </p:blipFill>
        <p:spPr>
          <a:xfrm rot="671661">
            <a:off x="8553313" y="3205552"/>
            <a:ext cx="1176146" cy="10802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F66676-E770-C6A6-225C-53DB63CD01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71" t="70278" r="74296" b="5715"/>
          <a:stretch>
            <a:fillRect/>
          </a:stretch>
        </p:blipFill>
        <p:spPr>
          <a:xfrm rot="21359668">
            <a:off x="7345093" y="3968115"/>
            <a:ext cx="968961" cy="5905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07B98C2-449E-8D01-51DF-A4D444F38C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48" t="8271" r="2303" b="4726"/>
          <a:stretch>
            <a:fillRect/>
          </a:stretch>
        </p:blipFill>
        <p:spPr>
          <a:xfrm rot="671661">
            <a:off x="8427164" y="2914682"/>
            <a:ext cx="1176146" cy="108021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9C6187C-479D-8124-0A58-5182964D33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48" t="8271" r="2303" b="4726"/>
          <a:stretch>
            <a:fillRect/>
          </a:stretch>
        </p:blipFill>
        <p:spPr>
          <a:xfrm rot="671661">
            <a:off x="8742808" y="2827610"/>
            <a:ext cx="1176146" cy="108021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D204536-3A04-3568-6AE2-47E6B1E22D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48" t="8271" r="2303" b="4726"/>
          <a:stretch>
            <a:fillRect/>
          </a:stretch>
        </p:blipFill>
        <p:spPr>
          <a:xfrm rot="671661">
            <a:off x="8932304" y="3001754"/>
            <a:ext cx="1176146" cy="10802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AAC0589-1EE9-A707-BAE1-EE5CFFD19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176261" y="2717792"/>
            <a:ext cx="3543300" cy="222972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F2F4C27-0BF2-58AD-E014-88BA88652A83}"/>
              </a:ext>
            </a:extLst>
          </p:cNvPr>
          <p:cNvSpPr txBox="1"/>
          <p:nvPr/>
        </p:nvSpPr>
        <p:spPr>
          <a:xfrm rot="16200000">
            <a:off x="1331571" y="3417153"/>
            <a:ext cx="2074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Proactivo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FE680D6-4337-D3A9-307A-09F8F2E12C4D}"/>
              </a:ext>
            </a:extLst>
          </p:cNvPr>
          <p:cNvSpPr txBox="1"/>
          <p:nvPr/>
        </p:nvSpPr>
        <p:spPr>
          <a:xfrm>
            <a:off x="3858356" y="2717792"/>
            <a:ext cx="18964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Agente</a:t>
            </a:r>
            <a:endParaRPr lang="es-MX" sz="4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FDBCFDE-1631-6725-BBBF-771175D86FB1}"/>
              </a:ext>
            </a:extLst>
          </p:cNvPr>
          <p:cNvSpPr txBox="1"/>
          <p:nvPr/>
        </p:nvSpPr>
        <p:spPr>
          <a:xfrm>
            <a:off x="2646721" y="4185865"/>
            <a:ext cx="15291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Gestor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B01F40-2648-ACB3-EE03-1FB5864A3693}"/>
              </a:ext>
            </a:extLst>
          </p:cNvPr>
          <p:cNvSpPr txBox="1"/>
          <p:nvPr/>
        </p:nvSpPr>
        <p:spPr>
          <a:xfrm>
            <a:off x="5521103" y="4062754"/>
            <a:ext cx="1800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Análisis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069BB11-70B0-9BF3-2AF4-3C5B58F865CF}"/>
              </a:ext>
            </a:extLst>
          </p:cNvPr>
          <p:cNvSpPr txBox="1"/>
          <p:nvPr/>
        </p:nvSpPr>
        <p:spPr>
          <a:xfrm rot="16200000">
            <a:off x="6448402" y="3311030"/>
            <a:ext cx="1103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venir Next LT Pro Light" panose="020B0304020202020204" pitchFamily="34" charset="0"/>
                <a:ea typeface="MS PGothic" panose="020B0600070205080204" pitchFamily="34" charset="-128"/>
              </a:rPr>
              <a:t>Ventas</a:t>
            </a:r>
            <a:endParaRPr lang="es-MX" sz="4000" b="1" dirty="0">
              <a:solidFill>
                <a:schemeClr val="bg1"/>
              </a:solidFill>
              <a:latin typeface="Avenir Next LT Pro Light" panose="020B03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628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4" presetClass="path" presetSubtype="0" accel="50000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432 -0.01712 L -0.13971 -0.07222 C -0.16563 -0.08472 -0.20469 -0.0912 -0.24583 -0.0912 C -0.29219 -0.0912 -0.32969 -0.08472 -0.35573 -0.07222 L -0.48034 -0.01712 " pathEditMode="relative" rAng="0" ptsTypes="AAAAA" p14:bounceEnd="42000">
                                          <p:cBhvr>
                                            <p:cTn id="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07" y="-370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44" presetClass="path" presetSubtype="0" accel="50000" fill="hold" nodeType="after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758 0.05973 L -0.0858 -0.04745 C -0.10664 -0.07199 -0.13789 -0.08148 -0.17005 -0.07754 C -0.20625 -0.07291 -0.23528 -0.05578 -0.25442 -0.02662 L -0.34687 0.1051 " pathEditMode="relative" rAng="21360000" ptsTypes="AAAAA" p14:bounceEnd="42000">
                                          <p:cBhvr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542" y="-571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44" presetClass="path" presetSubtype="0" accel="50000" fill="hold" nodeType="after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079 0.03542 L -0.06953 -0.02639 C -0.08398 -0.04028 -0.10599 -0.04722 -0.12877 -0.04722 C -0.15494 -0.04722 -0.17578 -0.04028 -0.19036 -0.02639 L -0.25989 0.03542 " pathEditMode="relative" rAng="0" ptsTypes="AAAAA" p14:bounceEnd="42000">
                                          <p:cBhvr>
                                            <p:cTn id="1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3034" y="-41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4" presetClass="path" presetSubtype="0" accel="50000" fill="hold" nodeType="after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4.81481E-6 L -0.03659 -0.02338 C -0.04414 -0.02825 -0.0556 -0.03125 -0.06771 -0.03195 C -0.08125 -0.03288 -0.09219 -0.03102 -0.1 -0.02709 L -0.13698 -0.00834 " pathEditMode="relative" rAng="120000" ptsTypes="AAAAA" p14:bounceEnd="42000">
                                          <p:cBhvr>
                                            <p:cTn id="2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23" y="-180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/>
          <p:bldP spid="19" grpId="0"/>
          <p:bldP spid="21" grpId="0"/>
          <p:bldP spid="22" grpId="0"/>
          <p:bldP spid="2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4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432 -0.01712 L -0.13971 -0.07222 C -0.16563 -0.08472 -0.20469 -0.0912 -0.24583 -0.0912 C -0.29219 -0.0912 -0.32969 -0.08472 -0.35573 -0.07222 L -0.48034 -0.01712 " pathEditMode="relative" rAng="0" ptsTypes="AAAAA">
                                          <p:cBhvr>
                                            <p:cTn id="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07" y="-370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44" presetClass="path" presetSubtype="0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758 0.05973 L -0.0858 -0.04745 C -0.10664 -0.07199 -0.13789 -0.08148 -0.17005 -0.07754 C -0.20625 -0.07291 -0.23528 -0.05578 -0.25442 -0.02662 L -0.34687 0.1051 " pathEditMode="relative" rAng="21360000" ptsTypes="AAAAA">
                                          <p:cBhvr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542" y="-571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44" presetClass="path" presetSubtype="0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079 0.03542 L -0.06953 -0.02639 C -0.08398 -0.04028 -0.10599 -0.04722 -0.12877 -0.04722 C -0.15494 -0.04722 -0.17578 -0.04028 -0.19036 -0.02639 L -0.25989 0.03542 " pathEditMode="relative" rAng="0" ptsTypes="AAAAA">
                                          <p:cBhvr>
                                            <p:cTn id="1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3034" y="-41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4" presetClass="path" presetSubtype="0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4.81481E-6 L -0.03659 -0.02338 C -0.04414 -0.02825 -0.0556 -0.03125 -0.06771 -0.03195 C -0.08125 -0.03288 -0.09219 -0.03102 -0.1 -0.02709 L -0.13698 -0.00834 " pathEditMode="relative" rAng="120000" ptsTypes="AAAAA">
                                          <p:cBhvr>
                                            <p:cTn id="2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23" y="-180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/>
          <p:bldP spid="19" grpId="0"/>
          <p:bldP spid="21" grpId="0"/>
          <p:bldP spid="22" grpId="0"/>
          <p:bldP spid="23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4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30DB7-9803-9AA6-6907-41744E34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29FD708-241A-FB05-0E8A-1C180B663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2129" y="0"/>
            <a:ext cx="12192000" cy="68580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F715BD2-D544-A2CC-40A3-ED9AFB957713}"/>
              </a:ext>
            </a:extLst>
          </p:cNvPr>
          <p:cNvSpPr/>
          <p:nvPr/>
        </p:nvSpPr>
        <p:spPr>
          <a:xfrm>
            <a:off x="-3808071" y="-2781"/>
            <a:ext cx="1269794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2DFA009-2450-2B9D-7ED3-5D3752A9DAE7}"/>
              </a:ext>
            </a:extLst>
          </p:cNvPr>
          <p:cNvGrpSpPr/>
          <p:nvPr/>
        </p:nvGrpSpPr>
        <p:grpSpPr>
          <a:xfrm>
            <a:off x="8189406" y="2506374"/>
            <a:ext cx="3612080" cy="2539268"/>
            <a:chOff x="88490" y="2298602"/>
            <a:chExt cx="3612080" cy="253926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E6019E57-BD67-12FD-52F3-54DE24F88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91"/>
            <a:stretch>
              <a:fillRect/>
            </a:stretch>
          </p:blipFill>
          <p:spPr>
            <a:xfrm>
              <a:off x="88490" y="2298602"/>
              <a:ext cx="3612080" cy="2539268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08BD248-C3F8-30A1-7440-6C26CB856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494" t="13848" r="19775" b="24129"/>
            <a:stretch>
              <a:fillRect/>
            </a:stretch>
          </p:blipFill>
          <p:spPr>
            <a:xfrm>
              <a:off x="692249" y="2711861"/>
              <a:ext cx="998900" cy="1111680"/>
            </a:xfrm>
            <a:prstGeom prst="rect">
              <a:avLst/>
            </a:prstGeom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A9347A5C-085E-2C17-C13E-4900C11E76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309744" y="2781"/>
            <a:ext cx="11486784" cy="685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2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0"/>
    </mc:Choice>
    <mc:Fallback xmlns="">
      <p:transition advTm="200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accel="5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2.96296E-6 L 0.96927 0.00718 " pathEditMode="relative" rAng="0" ptsTypes="AA" p14:bounceEnd="42000">
                                          <p:cBhvr>
                                            <p:cTn id="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8464" y="34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63" presetClass="path" presetSubtype="0" accel="50000" fill="hold" grpId="0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20078 0.00046 L 0.30716 0.00046 " pathEditMode="relative" rAng="0" ptsTypes="AA" p14:bounceEnd="42000">
                                          <p:cBhvr>
                                            <p:cTn id="8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539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63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66667E-6 -1.48148E-6 L 0.92305 -0.00023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6159" y="-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2.96296E-6 L 0.96927 0.00718 " pathEditMode="relative" rAng="0" ptsTypes="AA">
                                          <p:cBhvr>
                                            <p:cTn id="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8464" y="34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63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20078 0.00046 L 0.30716 0.00046 " pathEditMode="relative" rAng="0" ptsTypes="AA">
                                          <p:cBhvr>
                                            <p:cTn id="8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539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63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66667E-6 -1.48148E-6 L 0.92305 -0.00023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6159" y="-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F37AF-8C6E-593F-712F-BCE22804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76D6D4F-0D36-A6A3-A099-38DCBF00E9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85" r="6262"/>
          <a:stretch>
            <a:fillRect/>
          </a:stretch>
        </p:blipFill>
        <p:spPr>
          <a:xfrm>
            <a:off x="8461821" y="507962"/>
            <a:ext cx="2524724" cy="626797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79F032C-E13F-F574-C530-6399BAB4E1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3" r="36588"/>
          <a:stretch>
            <a:fillRect/>
          </a:stretch>
        </p:blipFill>
        <p:spPr>
          <a:xfrm>
            <a:off x="5446469" y="559182"/>
            <a:ext cx="2735873" cy="621675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EF8AA72-66B1-B8B2-2E71-0FD03EBD9B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3" r="68877"/>
          <a:stretch>
            <a:fillRect/>
          </a:stretch>
        </p:blipFill>
        <p:spPr>
          <a:xfrm>
            <a:off x="1622518" y="458794"/>
            <a:ext cx="2607064" cy="6399206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49E7DB6-A076-10E7-0742-4790F75F5617}"/>
              </a:ext>
            </a:extLst>
          </p:cNvPr>
          <p:cNvSpPr/>
          <p:nvPr/>
        </p:nvSpPr>
        <p:spPr>
          <a:xfrm>
            <a:off x="81024" y="150472"/>
            <a:ext cx="11979796" cy="6551270"/>
          </a:xfrm>
          <a:prstGeom prst="roundRect">
            <a:avLst>
              <a:gd name="adj" fmla="val 6299"/>
            </a:avLst>
          </a:prstGeom>
          <a:solidFill>
            <a:schemeClr val="bg1">
              <a:alpha val="64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E505F49-418F-F74C-03D9-A4972C65F7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3" r="68877"/>
          <a:stretch>
            <a:fillRect/>
          </a:stretch>
        </p:blipFill>
        <p:spPr>
          <a:xfrm>
            <a:off x="1293053" y="943410"/>
            <a:ext cx="2219661" cy="54483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F684FBF-A537-92BB-B278-536E6D2D6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3" r="36588"/>
          <a:stretch>
            <a:fillRect/>
          </a:stretch>
        </p:blipFill>
        <p:spPr>
          <a:xfrm>
            <a:off x="4895223" y="943410"/>
            <a:ext cx="2397691" cy="54483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C9F022E-77FC-7E52-B6BC-365B7AF9EB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85" r="6262"/>
          <a:stretch>
            <a:fillRect/>
          </a:stretch>
        </p:blipFill>
        <p:spPr>
          <a:xfrm>
            <a:off x="8911351" y="943410"/>
            <a:ext cx="2194561" cy="5448300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6DC6057-0A0B-E10E-7876-4E4D3D674946}"/>
              </a:ext>
            </a:extLst>
          </p:cNvPr>
          <p:cNvSpPr/>
          <p:nvPr/>
        </p:nvSpPr>
        <p:spPr>
          <a:xfrm>
            <a:off x="706056" y="2754775"/>
            <a:ext cx="10776029" cy="1431039"/>
          </a:xfrm>
          <a:prstGeom prst="roundRect">
            <a:avLst/>
          </a:prstGeom>
          <a:solidFill>
            <a:schemeClr val="bg1">
              <a:alpha val="83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E19EDC-9515-E0F5-EAE2-04315B8F5107}"/>
              </a:ext>
            </a:extLst>
          </p:cNvPr>
          <p:cNvSpPr txBox="1"/>
          <p:nvPr/>
        </p:nvSpPr>
        <p:spPr>
          <a:xfrm>
            <a:off x="1086088" y="2962461"/>
            <a:ext cx="2543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2000" dirty="0"/>
              <a:t>No sabe qué clientes están a punto de abandonar la marca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F787AF-4AA5-56B4-3DB3-DCA8D6AAA0DF}"/>
              </a:ext>
            </a:extLst>
          </p:cNvPr>
          <p:cNvSpPr txBox="1"/>
          <p:nvPr/>
        </p:nvSpPr>
        <p:spPr>
          <a:xfrm>
            <a:off x="4811210" y="2962461"/>
            <a:ext cx="25657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2000" dirty="0"/>
              <a:t>No sabe dónde enfocar a sus preventistas.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23A07B-4423-08AD-DC6B-968F63C5CDB6}"/>
              </a:ext>
            </a:extLst>
          </p:cNvPr>
          <p:cNvSpPr txBox="1"/>
          <p:nvPr/>
        </p:nvSpPr>
        <p:spPr>
          <a:xfrm>
            <a:off x="8558515" y="2962462"/>
            <a:ext cx="24721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2000" dirty="0"/>
              <a:t>Cuando descubre el problema, ya perdió la venta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4D3D4BF-082D-6402-8FA0-B6453AE034B6}"/>
              </a:ext>
            </a:extLst>
          </p:cNvPr>
          <p:cNvCxnSpPr/>
          <p:nvPr/>
        </p:nvCxnSpPr>
        <p:spPr>
          <a:xfrm>
            <a:off x="4155312" y="2962461"/>
            <a:ext cx="0" cy="10156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A178430-6F76-5920-65E0-9AC751B2BCC2}"/>
              </a:ext>
            </a:extLst>
          </p:cNvPr>
          <p:cNvCxnSpPr/>
          <p:nvPr/>
        </p:nvCxnSpPr>
        <p:spPr>
          <a:xfrm>
            <a:off x="7976887" y="2962461"/>
            <a:ext cx="0" cy="10156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DE9815D-3E8C-25A5-F7DC-913AA0904FA2}"/>
              </a:ext>
            </a:extLst>
          </p:cNvPr>
          <p:cNvSpPr txBox="1"/>
          <p:nvPr/>
        </p:nvSpPr>
        <p:spPr>
          <a:xfrm>
            <a:off x="706056" y="2121577"/>
            <a:ext cx="3142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>
                <a:effectLst/>
                <a:latin typeface="Bahnschrift SemiBold SemiConden" panose="020B0502040204020203" pitchFamily="34" charset="0"/>
              </a:rPr>
              <a:t>Problemática</a:t>
            </a:r>
          </a:p>
        </p:txBody>
      </p:sp>
    </p:spTree>
    <p:extLst>
      <p:ext uri="{BB962C8B-B14F-4D97-AF65-F5344CB8AC3E}">
        <p14:creationId xmlns:p14="http://schemas.microsoft.com/office/powerpoint/2010/main" val="189247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0C51B-3AD9-D756-D9FD-89D64E5F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C6B07AE-DCC6-E329-CA9A-68770851F3FE}"/>
              </a:ext>
            </a:extLst>
          </p:cNvPr>
          <p:cNvSpPr/>
          <p:nvPr/>
        </p:nvSpPr>
        <p:spPr>
          <a:xfrm>
            <a:off x="81024" y="150472"/>
            <a:ext cx="11979796" cy="6551270"/>
          </a:xfrm>
          <a:prstGeom prst="roundRect">
            <a:avLst>
              <a:gd name="adj" fmla="val 6299"/>
            </a:avLst>
          </a:prstGeom>
          <a:solidFill>
            <a:schemeClr val="bg1">
              <a:alpha val="64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87D642CE-C436-8D49-B6F5-05C49D165010}"/>
              </a:ext>
            </a:extLst>
          </p:cNvPr>
          <p:cNvSpPr/>
          <p:nvPr/>
        </p:nvSpPr>
        <p:spPr>
          <a:xfrm>
            <a:off x="8027719" y="4347469"/>
            <a:ext cx="2693477" cy="464767"/>
          </a:xfrm>
          <a:prstGeom prst="round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43AD9A2-C455-BA50-9BF8-2C3C174DB790}"/>
              </a:ext>
            </a:extLst>
          </p:cNvPr>
          <p:cNvSpPr/>
          <p:nvPr/>
        </p:nvSpPr>
        <p:spPr>
          <a:xfrm>
            <a:off x="8221018" y="1636367"/>
            <a:ext cx="2919423" cy="668450"/>
          </a:xfrm>
          <a:prstGeom prst="round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923300A-8954-D79D-91E9-648D4A4672DD}"/>
              </a:ext>
            </a:extLst>
          </p:cNvPr>
          <p:cNvSpPr/>
          <p:nvPr/>
        </p:nvSpPr>
        <p:spPr>
          <a:xfrm>
            <a:off x="0" y="365710"/>
            <a:ext cx="9954228" cy="844951"/>
          </a:xfrm>
          <a:prstGeom prst="roundRect">
            <a:avLst>
              <a:gd name="adj" fmla="val 0"/>
            </a:avLst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227EA49-7967-EC0C-23FC-BF9A6A5D4A22}"/>
              </a:ext>
            </a:extLst>
          </p:cNvPr>
          <p:cNvSpPr txBox="1"/>
          <p:nvPr/>
        </p:nvSpPr>
        <p:spPr>
          <a:xfrm>
            <a:off x="7569615" y="314576"/>
            <a:ext cx="19941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effectLst/>
                <a:latin typeface="Bahnschrift SemiBold SemiConden" panose="020B0502040204020203" pitchFamily="34" charset="0"/>
              </a:rPr>
              <a:t>Myra</a:t>
            </a:r>
            <a:endParaRPr lang="es-MX" sz="7200" b="1" dirty="0">
              <a:effectLst/>
              <a:latin typeface="Bahnschrift SemiBold SemiConden" panose="020B0502040204020203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AA6EB12-1003-338D-BF16-8E574CCE6A65}"/>
              </a:ext>
            </a:extLst>
          </p:cNvPr>
          <p:cNvSpPr/>
          <p:nvPr/>
        </p:nvSpPr>
        <p:spPr>
          <a:xfrm>
            <a:off x="8629843" y="3078865"/>
            <a:ext cx="2693477" cy="524865"/>
          </a:xfrm>
          <a:prstGeom prst="round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4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39DCE29A-8600-A8B7-0529-75D8046A2C84}"/>
              </a:ext>
            </a:extLst>
          </p:cNvPr>
          <p:cNvCxnSpPr>
            <a:cxnSpLocks/>
          </p:cNvCxnSpPr>
          <p:nvPr/>
        </p:nvCxnSpPr>
        <p:spPr>
          <a:xfrm flipV="1">
            <a:off x="7171003" y="1871827"/>
            <a:ext cx="917278" cy="759813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D36437DD-6DE3-8369-A917-79950BDE7377}"/>
              </a:ext>
            </a:extLst>
          </p:cNvPr>
          <p:cNvCxnSpPr/>
          <p:nvPr/>
        </p:nvCxnSpPr>
        <p:spPr>
          <a:xfrm flipV="1">
            <a:off x="6771190" y="3334846"/>
            <a:ext cx="1759352" cy="256156"/>
          </a:xfrm>
          <a:prstGeom prst="bentConnector3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4EB25B10-C409-3080-7423-2E0BC0D9866A}"/>
              </a:ext>
            </a:extLst>
          </p:cNvPr>
          <p:cNvCxnSpPr>
            <a:cxnSpLocks/>
          </p:cNvCxnSpPr>
          <p:nvPr/>
        </p:nvCxnSpPr>
        <p:spPr>
          <a:xfrm>
            <a:off x="6875362" y="4294208"/>
            <a:ext cx="1096814" cy="267711"/>
          </a:xfrm>
          <a:prstGeom prst="bentConnector3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A8F24F7-8F6B-D9C0-AD8F-5B58EDB81B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72" t="11942" r="8454" b="9551"/>
          <a:stretch>
            <a:fillRect/>
          </a:stretch>
        </p:blipFill>
        <p:spPr>
          <a:xfrm>
            <a:off x="1291838" y="410236"/>
            <a:ext cx="4582670" cy="65512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4BAF9FE-8C64-25C4-59CD-43B912F46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782" y="410236"/>
            <a:ext cx="2164308" cy="4703418"/>
          </a:xfrm>
          <a:prstGeom prst="flowChartAlternateProcess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E4AE9AB-800D-10F1-53FD-6EBBEFF69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3" b="1923"/>
          <a:stretch/>
        </p:blipFill>
        <p:spPr>
          <a:xfrm>
            <a:off x="4751756" y="1541917"/>
            <a:ext cx="2338223" cy="4885941"/>
          </a:xfrm>
          <a:prstGeom prst="round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29CD5590-D619-236A-D13B-D33604C93B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" b="1613"/>
          <a:stretch/>
        </p:blipFill>
        <p:spPr>
          <a:xfrm>
            <a:off x="2646827" y="1454082"/>
            <a:ext cx="1920974" cy="4039938"/>
          </a:xfrm>
          <a:prstGeom prst="flowChartAlternateProcess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3707CB81-175C-9813-192F-87CF26360F38}"/>
              </a:ext>
            </a:extLst>
          </p:cNvPr>
          <p:cNvSpPr txBox="1"/>
          <p:nvPr/>
        </p:nvSpPr>
        <p:spPr>
          <a:xfrm>
            <a:off x="8221019" y="1739407"/>
            <a:ext cx="29194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2200" dirty="0"/>
              <a:t>Visualización General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7EB4E2E-1E00-85C8-D102-0E8E5DFAFBFC}"/>
              </a:ext>
            </a:extLst>
          </p:cNvPr>
          <p:cNvSpPr txBox="1"/>
          <p:nvPr/>
        </p:nvSpPr>
        <p:spPr>
          <a:xfrm>
            <a:off x="8709003" y="3128446"/>
            <a:ext cx="2510406" cy="40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chemeClr val="tx1"/>
                </a:solidFill>
                <a:ea typeface="Montserrat" pitchFamily="34" charset="-122"/>
                <a:cs typeface="Montserrat" pitchFamily="34" charset="-120"/>
              </a:rPr>
              <a:t>Dashboard </a:t>
            </a:r>
            <a:r>
              <a:rPr lang="en-US" sz="2000" dirty="0" err="1">
                <a:solidFill>
                  <a:schemeClr val="tx1"/>
                </a:solidFill>
                <a:ea typeface="Montserrat" pitchFamily="34" charset="-122"/>
                <a:cs typeface="Montserrat" pitchFamily="34" charset="-120"/>
              </a:rPr>
              <a:t>Ejecutivo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8F72150-D575-337D-6B3B-4859B60E06F4}"/>
              </a:ext>
            </a:extLst>
          </p:cNvPr>
          <p:cNvSpPr txBox="1"/>
          <p:nvPr/>
        </p:nvSpPr>
        <p:spPr>
          <a:xfrm>
            <a:off x="8221018" y="4360197"/>
            <a:ext cx="2510406" cy="40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 dirty="0" err="1"/>
              <a:t>Reporte</a:t>
            </a:r>
            <a:r>
              <a:rPr lang="en-US" sz="2000" dirty="0"/>
              <a:t> </a:t>
            </a:r>
            <a:r>
              <a:rPr lang="en-US" sz="2000" dirty="0" err="1"/>
              <a:t>Mensual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A9B76A56-D759-12E7-7C71-0002A4AB84E6}"/>
              </a:ext>
            </a:extLst>
          </p:cNvPr>
          <p:cNvSpPr/>
          <p:nvPr/>
        </p:nvSpPr>
        <p:spPr>
          <a:xfrm>
            <a:off x="8276639" y="5597034"/>
            <a:ext cx="2338224" cy="464767"/>
          </a:xfrm>
          <a:prstGeom prst="round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4953192F-CA86-54E5-8B2E-103E0777EA44}"/>
              </a:ext>
            </a:extLst>
          </p:cNvPr>
          <p:cNvCxnSpPr>
            <a:cxnSpLocks/>
          </p:cNvCxnSpPr>
          <p:nvPr/>
        </p:nvCxnSpPr>
        <p:spPr>
          <a:xfrm>
            <a:off x="7124281" y="5543773"/>
            <a:ext cx="1096814" cy="267711"/>
          </a:xfrm>
          <a:prstGeom prst="bentConnector3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9AE1FE6-0688-07C6-756C-09133CBD9F44}"/>
              </a:ext>
            </a:extLst>
          </p:cNvPr>
          <p:cNvSpPr txBox="1"/>
          <p:nvPr/>
        </p:nvSpPr>
        <p:spPr>
          <a:xfrm>
            <a:off x="8469937" y="5609762"/>
            <a:ext cx="2177743" cy="40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2000" dirty="0" err="1"/>
              <a:t>Reporte</a:t>
            </a:r>
            <a:r>
              <a:rPr lang="en-US" sz="2000" dirty="0"/>
              <a:t> de tienda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38C5A-AE62-EFBF-821B-90EFF19E20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83" y="2761945"/>
            <a:ext cx="2071825" cy="400393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9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60E18-5D22-02FD-FAA8-ED1F4528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7107043E-4799-C0D1-5A74-BBDC606AE295}"/>
              </a:ext>
            </a:extLst>
          </p:cNvPr>
          <p:cNvSpPr/>
          <p:nvPr/>
        </p:nvSpPr>
        <p:spPr>
          <a:xfrm>
            <a:off x="8356069" y="4648917"/>
            <a:ext cx="3416158" cy="797624"/>
          </a:xfrm>
          <a:prstGeom prst="round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9393AC3-CE0E-2CA7-0FDA-04861B4EA781}"/>
              </a:ext>
            </a:extLst>
          </p:cNvPr>
          <p:cNvSpPr/>
          <p:nvPr/>
        </p:nvSpPr>
        <p:spPr>
          <a:xfrm>
            <a:off x="81024" y="150472"/>
            <a:ext cx="11979796" cy="6551270"/>
          </a:xfrm>
          <a:prstGeom prst="roundRect">
            <a:avLst>
              <a:gd name="adj" fmla="val 6299"/>
            </a:avLst>
          </a:prstGeom>
          <a:solidFill>
            <a:schemeClr val="bg1">
              <a:alpha val="64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8005261-D367-A9D6-E8FA-168C1BF945D7}"/>
              </a:ext>
            </a:extLst>
          </p:cNvPr>
          <p:cNvSpPr/>
          <p:nvPr/>
        </p:nvSpPr>
        <p:spPr>
          <a:xfrm>
            <a:off x="7586147" y="1440896"/>
            <a:ext cx="2739243" cy="797624"/>
          </a:xfrm>
          <a:prstGeom prst="round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30092BB-4659-213F-E69A-89F4B24DF34B}"/>
              </a:ext>
            </a:extLst>
          </p:cNvPr>
          <p:cNvSpPr/>
          <p:nvPr/>
        </p:nvSpPr>
        <p:spPr>
          <a:xfrm>
            <a:off x="0" y="365710"/>
            <a:ext cx="7067985" cy="844951"/>
          </a:xfrm>
          <a:prstGeom prst="roundRect">
            <a:avLst>
              <a:gd name="adj" fmla="val 0"/>
            </a:avLst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4392BC-48D0-2671-D083-41ABFDB8C20D}"/>
              </a:ext>
            </a:extLst>
          </p:cNvPr>
          <p:cNvSpPr txBox="1"/>
          <p:nvPr/>
        </p:nvSpPr>
        <p:spPr>
          <a:xfrm>
            <a:off x="7636307" y="1469079"/>
            <a:ext cx="25657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2200" dirty="0"/>
              <a:t>Pasamos de reactivo a proactivo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9712B6-105F-326E-4538-FC9ECA69CAC5}"/>
              </a:ext>
            </a:extLst>
          </p:cNvPr>
          <p:cNvSpPr txBox="1"/>
          <p:nvPr/>
        </p:nvSpPr>
        <p:spPr>
          <a:xfrm>
            <a:off x="8436435" y="4677100"/>
            <a:ext cx="3230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2200" dirty="0"/>
              <a:t>Transformamos datos en decisiones accionables.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D3FE6DC-F9B5-46B7-03C1-DFF37BC2A817}"/>
              </a:ext>
            </a:extLst>
          </p:cNvPr>
          <p:cNvCxnSpPr/>
          <p:nvPr/>
        </p:nvCxnSpPr>
        <p:spPr>
          <a:xfrm>
            <a:off x="4155312" y="2962461"/>
            <a:ext cx="0" cy="10156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9A7F601-4EC2-C60E-401F-95E07429CAD4}"/>
              </a:ext>
            </a:extLst>
          </p:cNvPr>
          <p:cNvSpPr txBox="1"/>
          <p:nvPr/>
        </p:nvSpPr>
        <p:spPr>
          <a:xfrm>
            <a:off x="5073858" y="410236"/>
            <a:ext cx="19941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effectLst/>
                <a:latin typeface="Bahnschrift SemiBold SemiConden" panose="020B0502040204020203" pitchFamily="34" charset="0"/>
              </a:rPr>
              <a:t>Myra</a:t>
            </a:r>
            <a:endParaRPr lang="es-MX" sz="7200" b="1" dirty="0">
              <a:effectLst/>
              <a:latin typeface="Bahnschrift SemiBold SemiConden" panose="020B0502040204020203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F60F19D-7738-B80C-FE02-4A9431A55FA4}"/>
              </a:ext>
            </a:extLst>
          </p:cNvPr>
          <p:cNvSpPr/>
          <p:nvPr/>
        </p:nvSpPr>
        <p:spPr>
          <a:xfrm>
            <a:off x="9128328" y="3093862"/>
            <a:ext cx="2739243" cy="524865"/>
          </a:xfrm>
          <a:prstGeom prst="round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21148C-AA6D-7254-C11B-0973935A919A}"/>
              </a:ext>
            </a:extLst>
          </p:cNvPr>
          <p:cNvSpPr txBox="1"/>
          <p:nvPr/>
        </p:nvSpPr>
        <p:spPr>
          <a:xfrm>
            <a:off x="9159872" y="3187841"/>
            <a:ext cx="28978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dirty="0"/>
              <a:t>Un agente autónomo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6066838-1244-ADC5-F7F3-C792C1CCD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19072" y="-294375"/>
            <a:ext cx="4964501" cy="7446750"/>
          </a:xfrm>
          <a:prstGeom prst="rect">
            <a:avLst/>
          </a:prstGeom>
        </p:spPr>
      </p:pic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8752C7FA-CD08-E2AF-5684-730ABE20F1D4}"/>
              </a:ext>
            </a:extLst>
          </p:cNvPr>
          <p:cNvCxnSpPr/>
          <p:nvPr/>
        </p:nvCxnSpPr>
        <p:spPr>
          <a:xfrm rot="5400000" flipH="1" flipV="1">
            <a:off x="6714090" y="2063717"/>
            <a:ext cx="821803" cy="289367"/>
          </a:xfrm>
          <a:prstGeom prst="bentConnector3">
            <a:avLst>
              <a:gd name="adj1" fmla="val 97887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94C14369-8EDF-387E-AA44-0B17A2B899BE}"/>
              </a:ext>
            </a:extLst>
          </p:cNvPr>
          <p:cNvCxnSpPr>
            <a:cxnSpLocks/>
          </p:cNvCxnSpPr>
          <p:nvPr/>
        </p:nvCxnSpPr>
        <p:spPr>
          <a:xfrm flipV="1">
            <a:off x="7761599" y="3349843"/>
            <a:ext cx="1267428" cy="286212"/>
          </a:xfrm>
          <a:prstGeom prst="bentConnector3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525BBB14-4AD2-49B8-E703-34D9118B6EE5}"/>
              </a:ext>
            </a:extLst>
          </p:cNvPr>
          <p:cNvCxnSpPr/>
          <p:nvPr/>
        </p:nvCxnSpPr>
        <p:spPr>
          <a:xfrm>
            <a:off x="7373847" y="4309205"/>
            <a:ext cx="775504" cy="752615"/>
          </a:xfrm>
          <a:prstGeom prst="bentConnector3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Imagen 32">
            <a:extLst>
              <a:ext uri="{FF2B5EF4-FFF2-40B4-BE49-F238E27FC236}">
                <a16:creationId xmlns:a16="http://schemas.microsoft.com/office/drawing/2014/main" id="{BA11B769-474F-187E-3A6A-CA9EC51BD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0926" y="1695766"/>
            <a:ext cx="2287669" cy="4971503"/>
          </a:xfrm>
          <a:prstGeom prst="flowChartAlternateProcess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3A2F0B79-0D55-76E2-96DB-A2AD2E18F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6" b="2036"/>
          <a:stretch/>
        </p:blipFill>
        <p:spPr>
          <a:xfrm>
            <a:off x="174150" y="535070"/>
            <a:ext cx="2544996" cy="5305541"/>
          </a:xfrm>
          <a:prstGeom prst="flowChartAlternateProcess">
            <a:avLst/>
          </a:prstGeom>
        </p:spPr>
      </p:pic>
      <p:pic>
        <p:nvPicPr>
          <p:cNvPr id="2" name="Picture 1" descr="Qué es JSON? | Cable Naranja">
            <a:extLst>
              <a:ext uri="{FF2B5EF4-FFF2-40B4-BE49-F238E27FC236}">
                <a16:creationId xmlns:a16="http://schemas.microsoft.com/office/drawing/2014/main" id="{B6D285D9-92BD-99D7-B514-07C85AF0BF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361" r="-10504" b="-8"/>
          <a:stretch>
            <a:fillRect/>
          </a:stretch>
        </p:blipFill>
        <p:spPr>
          <a:xfrm>
            <a:off x="1875708" y="-1005817"/>
            <a:ext cx="1104859" cy="381399"/>
          </a:xfrm>
          <a:prstGeom prst="rect">
            <a:avLst/>
          </a:prstGeom>
        </p:spPr>
      </p:pic>
      <p:pic>
        <p:nvPicPr>
          <p:cNvPr id="17" name="Picture 16" descr="Swift - Free logo icons">
            <a:extLst>
              <a:ext uri="{FF2B5EF4-FFF2-40B4-BE49-F238E27FC236}">
                <a16:creationId xmlns:a16="http://schemas.microsoft.com/office/drawing/2014/main" id="{852C8F4C-3498-AE89-9F41-5BE2F26538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7524" r="8" b="-8030"/>
          <a:stretch>
            <a:fillRect/>
          </a:stretch>
        </p:blipFill>
        <p:spPr>
          <a:xfrm>
            <a:off x="5662060" y="-1358701"/>
            <a:ext cx="835750" cy="965813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 descr="Gemini workflow action - Aplicaciones para HubSpot | HubSpot">
            <a:extLst>
              <a:ext uri="{FF2B5EF4-FFF2-40B4-BE49-F238E27FC236}">
                <a16:creationId xmlns:a16="http://schemas.microsoft.com/office/drawing/2014/main" id="{75682524-46E5-80C2-39ED-9136A8D1BB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950" r="1" b="18081"/>
          <a:stretch>
            <a:fillRect/>
          </a:stretch>
        </p:blipFill>
        <p:spPr>
          <a:xfrm>
            <a:off x="9999464" y="-902097"/>
            <a:ext cx="1347023" cy="902097"/>
          </a:xfrm>
          <a:prstGeom prst="rect">
            <a:avLst/>
          </a:prstGeom>
        </p:spPr>
      </p:pic>
      <p:pic>
        <p:nvPicPr>
          <p:cNvPr id="24" name="Picture 23" descr="Xcode - Wikipedia">
            <a:extLst>
              <a:ext uri="{FF2B5EF4-FFF2-40B4-BE49-F238E27FC236}">
                <a16:creationId xmlns:a16="http://schemas.microsoft.com/office/drawing/2014/main" id="{A320F00F-11D7-C88C-E532-2B4BE969C2E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9" r="4" b="-16926"/>
          <a:stretch>
            <a:fillRect/>
          </a:stretch>
        </p:blipFill>
        <p:spPr>
          <a:xfrm>
            <a:off x="-3683266" y="4172989"/>
            <a:ext cx="1067745" cy="1247128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5" name="Picture 24" descr="Python (programming language) - Wikipedia">
            <a:extLst>
              <a:ext uri="{FF2B5EF4-FFF2-40B4-BE49-F238E27FC236}">
                <a16:creationId xmlns:a16="http://schemas.microsoft.com/office/drawing/2014/main" id="{440E0320-D430-0D1C-51C8-DA14A909B7F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4632" r="-10" b="-11700"/>
          <a:stretch>
            <a:fillRect/>
          </a:stretch>
        </p:blipFill>
        <p:spPr>
          <a:xfrm>
            <a:off x="13939515" y="7390772"/>
            <a:ext cx="847121" cy="9853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D2ECDF8-93C6-D8F7-644D-4E925421FF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8988" y="1361133"/>
            <a:ext cx="2287669" cy="4677561"/>
          </a:xfrm>
          <a:prstGeom prst="round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22CB199-A794-2805-6442-F1492A4CFA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233" y="2668370"/>
            <a:ext cx="1413002" cy="157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1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28272-89F8-5064-AF89-D9BD41B5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CuadroTexto 19">
            <a:extLst>
              <a:ext uri="{FF2B5EF4-FFF2-40B4-BE49-F238E27FC236}">
                <a16:creationId xmlns:a16="http://schemas.microsoft.com/office/drawing/2014/main" id="{E6874B04-AD08-C3C6-F4C6-85F785976C2E}"/>
              </a:ext>
            </a:extLst>
          </p:cNvPr>
          <p:cNvSpPr txBox="1"/>
          <p:nvPr/>
        </p:nvSpPr>
        <p:spPr>
          <a:xfrm>
            <a:off x="4875131" y="2926034"/>
            <a:ext cx="3297853" cy="115399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Myra +</a:t>
            </a:r>
          </a:p>
        </p:txBody>
      </p:sp>
      <p:sp>
        <p:nvSpPr>
          <p:cNvPr id="2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02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97132"/>
            </a:gs>
            <a:gs pos="100000">
              <a:srgbClr val="8C32D6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18D4A-86BD-A1C1-A09D-3EAD8F12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19">
            <a:extLst>
              <a:ext uri="{FF2B5EF4-FFF2-40B4-BE49-F238E27FC236}">
                <a16:creationId xmlns:a16="http://schemas.microsoft.com/office/drawing/2014/main" id="{56B46E1C-64BC-1928-0B85-D47771216AC3}"/>
              </a:ext>
            </a:extLst>
          </p:cNvPr>
          <p:cNvSpPr txBox="1"/>
          <p:nvPr/>
        </p:nvSpPr>
        <p:spPr>
          <a:xfrm>
            <a:off x="4128368" y="4522156"/>
            <a:ext cx="4937937" cy="13632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Tecnologias</a:t>
            </a:r>
            <a:r>
              <a:rPr lang="en-US" sz="4400" b="1" kern="1200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Utilizadas</a:t>
            </a:r>
            <a:r>
              <a:rPr lang="en-US" sz="4400" b="1" kern="1200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2E2D6188-24E5-426A-BB2A-3FA2D6B9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1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1208BC59-C84F-483F-80CD-FAEC74229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3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Qué es JSON? | Cable Naranja">
            <a:extLst>
              <a:ext uri="{FF2B5EF4-FFF2-40B4-BE49-F238E27FC236}">
                <a16:creationId xmlns:a16="http://schemas.microsoft.com/office/drawing/2014/main" id="{226BB876-0D96-D93F-4AAE-193B498F7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361" r="-10504" b="-8"/>
          <a:stretch>
            <a:fillRect/>
          </a:stretch>
        </p:blipFill>
        <p:spPr>
          <a:xfrm>
            <a:off x="1992086" y="547632"/>
            <a:ext cx="2410097" cy="831969"/>
          </a:xfrm>
          <a:prstGeom prst="rect">
            <a:avLst/>
          </a:prstGeom>
        </p:spPr>
      </p:pic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A1DABD52-05DF-4F31-AFB9-B330D8BE4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5559" y="725908"/>
            <a:ext cx="2852928" cy="2852928"/>
          </a:xfrm>
          <a:custGeom>
            <a:avLst/>
            <a:gdLst>
              <a:gd name="connsiteX0" fmla="*/ 1426464 w 2852928"/>
              <a:gd name="connsiteY0" fmla="*/ 0 h 2852928"/>
              <a:gd name="connsiteX1" fmla="*/ 2852928 w 2852928"/>
              <a:gd name="connsiteY1" fmla="*/ 1426464 h 2852928"/>
              <a:gd name="connsiteX2" fmla="*/ 1426464 w 2852928"/>
              <a:gd name="connsiteY2" fmla="*/ 2852928 h 2852928"/>
              <a:gd name="connsiteX3" fmla="*/ 0 w 2852928"/>
              <a:gd name="connsiteY3" fmla="*/ 1426464 h 2852928"/>
              <a:gd name="connsiteX4" fmla="*/ 1426464 w 2852928"/>
              <a:gd name="connsiteY4" fmla="*/ 0 h 285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Swift - Free logo icons">
            <a:extLst>
              <a:ext uri="{FF2B5EF4-FFF2-40B4-BE49-F238E27FC236}">
                <a16:creationId xmlns:a16="http://schemas.microsoft.com/office/drawing/2014/main" id="{BC4C571F-0C14-0519-1BD1-67CA53767A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7524" r="8" b="-8030"/>
          <a:stretch>
            <a:fillRect/>
          </a:stretch>
        </p:blipFill>
        <p:spPr>
          <a:xfrm>
            <a:off x="6041171" y="1272777"/>
            <a:ext cx="1823070" cy="2106784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 descr="Xcode - Wikipedia">
            <a:extLst>
              <a:ext uri="{FF2B5EF4-FFF2-40B4-BE49-F238E27FC236}">
                <a16:creationId xmlns:a16="http://schemas.microsoft.com/office/drawing/2014/main" id="{B286F7D6-FF78-F36F-1084-FBF2F7255C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9" r="4" b="-16926"/>
          <a:stretch>
            <a:fillRect/>
          </a:stretch>
        </p:blipFill>
        <p:spPr>
          <a:xfrm>
            <a:off x="236643" y="3743428"/>
            <a:ext cx="2329136" cy="2720434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E4F04B5-4D4A-4F70-8549-384AF5351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0"/>
            <a:ext cx="3273238" cy="3383891"/>
          </a:xfrm>
          <a:custGeom>
            <a:avLst/>
            <a:gdLst>
              <a:gd name="connsiteX0" fmla="*/ 122841 w 3273238"/>
              <a:gd name="connsiteY0" fmla="*/ 0 h 3383891"/>
              <a:gd name="connsiteX1" fmla="*/ 3273238 w 3273238"/>
              <a:gd name="connsiteY1" fmla="*/ 0 h 3383891"/>
              <a:gd name="connsiteX2" fmla="*/ 3273238 w 3273238"/>
              <a:gd name="connsiteY2" fmla="*/ 3291335 h 3383891"/>
              <a:gd name="connsiteX3" fmla="*/ 3118338 w 3273238"/>
              <a:gd name="connsiteY3" fmla="*/ 3331164 h 3383891"/>
              <a:gd name="connsiteX4" fmla="*/ 2595295 w 3273238"/>
              <a:gd name="connsiteY4" fmla="*/ 3383891 h 3383891"/>
              <a:gd name="connsiteX5" fmla="*/ 0 w 3273238"/>
              <a:gd name="connsiteY5" fmla="*/ 788596 h 3383891"/>
              <a:gd name="connsiteX6" fmla="*/ 116679 w 3273238"/>
              <a:gd name="connsiteY6" fmla="*/ 16835 h 33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Gemini workflow action - Aplicaciones para HubSpot | HubSpot">
            <a:extLst>
              <a:ext uri="{FF2B5EF4-FFF2-40B4-BE49-F238E27FC236}">
                <a16:creationId xmlns:a16="http://schemas.microsoft.com/office/drawing/2014/main" id="{75870B93-AD64-0DB2-C34B-ED9FEB27AF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950" r="1" b="18081"/>
          <a:stretch>
            <a:fillRect/>
          </a:stretch>
        </p:blipFill>
        <p:spPr>
          <a:xfrm>
            <a:off x="9444901" y="317437"/>
            <a:ext cx="2938341" cy="1967797"/>
          </a:xfrm>
          <a:prstGeom prst="rect">
            <a:avLst/>
          </a:prstGeom>
        </p:spPr>
      </p:pic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0D14DB62-3EB3-452E-89EE-30B0CDB0C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3236" y="4071322"/>
            <a:ext cx="2828765" cy="2786678"/>
          </a:xfrm>
          <a:custGeom>
            <a:avLst/>
            <a:gdLst>
              <a:gd name="connsiteX0" fmla="*/ 1888236 w 2828765"/>
              <a:gd name="connsiteY0" fmla="*/ 0 h 2786678"/>
              <a:gd name="connsiteX1" fmla="*/ 2788281 w 2828765"/>
              <a:gd name="connsiteY1" fmla="*/ 227900 h 2786678"/>
              <a:gd name="connsiteX2" fmla="*/ 2828765 w 2828765"/>
              <a:gd name="connsiteY2" fmla="*/ 252495 h 2786678"/>
              <a:gd name="connsiteX3" fmla="*/ 2828765 w 2828765"/>
              <a:gd name="connsiteY3" fmla="*/ 2786678 h 2786678"/>
              <a:gd name="connsiteX4" fmla="*/ 227128 w 2828765"/>
              <a:gd name="connsiteY4" fmla="*/ 2786678 h 2786678"/>
              <a:gd name="connsiteX5" fmla="*/ 148387 w 2828765"/>
              <a:gd name="connsiteY5" fmla="*/ 2623223 h 2786678"/>
              <a:gd name="connsiteX6" fmla="*/ 0 w 2828765"/>
              <a:gd name="connsiteY6" fmla="*/ 1888236 h 2786678"/>
              <a:gd name="connsiteX7" fmla="*/ 1888236 w 2828765"/>
              <a:gd name="connsiteY7" fmla="*/ 0 h 278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ython (programming language) - Wikipedia">
            <a:extLst>
              <a:ext uri="{FF2B5EF4-FFF2-40B4-BE49-F238E27FC236}">
                <a16:creationId xmlns:a16="http://schemas.microsoft.com/office/drawing/2014/main" id="{258E3305-A5C0-EB03-337B-4DAFB76A7D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632" r="-10" b="-11700"/>
          <a:stretch>
            <a:fillRect/>
          </a:stretch>
        </p:blipFill>
        <p:spPr>
          <a:xfrm>
            <a:off x="10032533" y="4872446"/>
            <a:ext cx="1847875" cy="2149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B61809-0C49-9529-0962-1EF1AF273CB5}"/>
              </a:ext>
            </a:extLst>
          </p:cNvPr>
          <p:cNvSpPr txBox="1"/>
          <p:nvPr/>
        </p:nvSpPr>
        <p:spPr>
          <a:xfrm rot="2616943">
            <a:off x="5360712" y="419463"/>
            <a:ext cx="3061004" cy="301173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9501683"/>
              </a:avLst>
            </a:prstTxWarp>
            <a:spAutoFit/>
          </a:bodyPr>
          <a:lstStyle/>
          <a:p>
            <a:r>
              <a:rPr lang="es-MX" sz="3600" dirty="0"/>
              <a:t>Desarrollo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54F87-90AB-819F-639C-96DF1EA78771}"/>
              </a:ext>
            </a:extLst>
          </p:cNvPr>
          <p:cNvSpPr txBox="1"/>
          <p:nvPr/>
        </p:nvSpPr>
        <p:spPr>
          <a:xfrm rot="20767428">
            <a:off x="8774110" y="-505233"/>
            <a:ext cx="3061004" cy="301173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9501683"/>
              </a:avLst>
            </a:prstTxWarp>
            <a:spAutoFit/>
          </a:bodyPr>
          <a:lstStyle/>
          <a:p>
            <a:r>
              <a:rPr lang="es-MX" sz="3600" dirty="0"/>
              <a:t>API e 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C977A-8750-D325-7EBD-80CD1ACB7627}"/>
              </a:ext>
            </a:extLst>
          </p:cNvPr>
          <p:cNvSpPr txBox="1"/>
          <p:nvPr/>
        </p:nvSpPr>
        <p:spPr>
          <a:xfrm rot="414590">
            <a:off x="921655" y="-713141"/>
            <a:ext cx="3061004" cy="301173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9501683"/>
              </a:avLst>
            </a:prstTxWarp>
            <a:spAutoFit/>
          </a:bodyPr>
          <a:lstStyle/>
          <a:p>
            <a:r>
              <a:rPr lang="es-MX" sz="3600" dirty="0"/>
              <a:t>DB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5D5B2-5156-D010-AE4A-B87A1631625B}"/>
              </a:ext>
            </a:extLst>
          </p:cNvPr>
          <p:cNvSpPr txBox="1"/>
          <p:nvPr/>
        </p:nvSpPr>
        <p:spPr>
          <a:xfrm rot="21001846">
            <a:off x="9076065" y="3758666"/>
            <a:ext cx="4264295" cy="4109208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228728"/>
              </a:avLst>
            </a:prstTxWarp>
            <a:spAutoFit/>
          </a:bodyPr>
          <a:lstStyle/>
          <a:p>
            <a:r>
              <a:rPr lang="es-MX" sz="3600" dirty="0"/>
              <a:t>DB (Entrenamiento)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66594-18A5-9CDC-AA83-DD1AE960B951}"/>
              </a:ext>
            </a:extLst>
          </p:cNvPr>
          <p:cNvSpPr txBox="1"/>
          <p:nvPr/>
        </p:nvSpPr>
        <p:spPr>
          <a:xfrm rot="8246987">
            <a:off x="-2846696" y="2152027"/>
            <a:ext cx="6952280" cy="7022553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228728"/>
              </a:avLst>
            </a:prstTxWarp>
            <a:spAutoFit/>
          </a:bodyPr>
          <a:lstStyle/>
          <a:p>
            <a:r>
              <a:rPr lang="es-MX" sz="3600" dirty="0"/>
              <a:t>Desarrollo</a:t>
            </a:r>
          </a:p>
        </p:txBody>
      </p:sp>
    </p:spTree>
    <p:extLst>
      <p:ext uri="{BB962C8B-B14F-4D97-AF65-F5344CB8AC3E}">
        <p14:creationId xmlns:p14="http://schemas.microsoft.com/office/powerpoint/2010/main" val="4270023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75</Words>
  <Application>Microsoft Office PowerPoint</Application>
  <PresentationFormat>Widescreen</PresentationFormat>
  <Paragraphs>26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MS PGothic</vt:lpstr>
      <vt:lpstr>Aptos</vt:lpstr>
      <vt:lpstr>Aptos Display</vt:lpstr>
      <vt:lpstr>Arial</vt:lpstr>
      <vt:lpstr>Avenir Next LT Pro Light</vt:lpstr>
      <vt:lpstr>Bahnschrift Condensed</vt:lpstr>
      <vt:lpstr>Bahnschrift SemiBold SemiConden</vt:lpstr>
      <vt:lpstr>Calibri</vt:lpstr>
      <vt:lpstr>Montserrat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MELIDA KRYSTAL  MENDOZA  VENTURA</dc:creator>
  <cp:lastModifiedBy>Martinez Martinez, Heidi</cp:lastModifiedBy>
  <cp:revision>253</cp:revision>
  <dcterms:created xsi:type="dcterms:W3CDTF">2026-06-07T01:15:45Z</dcterms:created>
  <dcterms:modified xsi:type="dcterms:W3CDTF">2026-06-07T16:46:09Z</dcterms:modified>
</cp:coreProperties>
</file>